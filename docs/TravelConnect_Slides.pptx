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EA5E9"/>
                </a:solidFill>
                <a:latin typeface="Arial"/>
              </a:defRPr>
            </a:pPr>
            <a:r>
              <a:t>BÁO CÁO CHUYÊN ĐỀ PHÁT TRIỂN HỆ THỐNG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TRAVELCONNECT - NỀN TẢNG MẠNG XÃ HỘI &amp; ĐẶT VÉ DU LỊCH TÍCH HỢP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Sinh viên thực hiện: </a:t>
            </a:r>
            <a:r>
              <a:rPr b="1">
                <a:solidFill>
                  <a:srgbClr val="0EA5E9"/>
                </a:solidFill>
              </a:rPr>
              <a:t>Phan Định Luyện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Mã số sinh viên: </a:t>
            </a:r>
            <a:r>
              <a:rPr b="1"/>
              <a:t>22050036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931920"/>
            <a:ext cx="2743200" cy="457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1. Đặt Vấn Đề &amp; Lý Do Chọn Đề Tài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Thực trạng &amp; Khó khăn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Nhu cầu du lịch tự túc và tìm kiếm thông tin review chân thực tăng cao.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Sự phân mảnh: Người dùng phải chuyển đổi quá nhiều ứng dụng (App review, App nhắn tin, App đặt vé riêng biệt).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Mất nhiều thời gian để quản lý lịch trình và xác thực giao dịch vé thủ công.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22415" y="1828800"/>
            <a:ext cx="4754880" cy="41148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201168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Arial"/>
              </a:defRPr>
            </a:pPr>
            <a:r>
              <a:t>Giải pháp từ TravelConnect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Mô hình 'All-in-One' tích hợp Mạng xã hội + Đặt vé + Nhắn tin gọi điện realtime.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Tự động hóa hoàn toàn quy trình mua vé, xuất vé QR và check-in nhanh bằng camera.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Giao diện thân thiện kết nối trực tiếp Khách du lịch - Đối tác khu du lịch - Admin.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2. Mục Tiêu &amp; Phạm Vi Đề Tài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Khách Du Lịch (User)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Tìm kiếm địa điểm du lịch.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Đăng bài viết chia sẻ, tương tác (like, comment, save).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Đặt vé dịch vụ trực tuyến và nhận mã QR check-in.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Gọi điện video, nhắn tin thời gian thực.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5190" y="1828800"/>
            <a:ext cx="3200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8070" y="201168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Khu Du Lịch (Business)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Đăng ký thông tin, thiết lập hồ sơ khu du lịch.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Đăng bán các gói vé/dịch vụ.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Quét mã QR của khách trực tiếp bằng camera điện thoại để check-in.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Quản lý booking và xem biểu đồ thống kê doanh thu.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6895" y="1828800"/>
            <a:ext cx="3200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9775" y="201168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Hệ Thống (Admin)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Quản lý danh sách người dùng và doanh nghiệp đối tác.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Duyệt các yêu cầu đăng ký kinh doanh.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Quản lý bài viết và tương tác của người dùng.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Thống kê tổng quan hoạt động và cấu hình hệ thống.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3. Kiến Trúc &amp; Công Nghệ Sử Dụng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Frontend Client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React.js &amp; Vite: Tốc độ build nhanh, tối ưu hóa giao diện Single Page.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Tailwind CSS: Xây dựng giao diện Responsive, hiện đại và tùy biến cao.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Lucide React: Bộ biểu tượng thiết kế tối giản, trực quan.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5190" y="1828800"/>
            <a:ext cx="3200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8070" y="201168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Backend &amp; Database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Node.js &amp; Express.js: Xử lý API tốc độ cao, khả năng chịu tải tốt.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MySQL 8: Cơ sở dữ liệu quan hệ chặt chẽ, tối ưu truy vấn.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JWT &amp; Bcrypt: Bảo mật tài khoản và xác thực API phân quyền.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6895" y="1828800"/>
            <a:ext cx="3200400" cy="41148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9775" y="201168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Arial"/>
              </a:defRPr>
            </a:pPr>
            <a:r>
              <a:t>Realtime &amp; Deployment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Socket.IO: Truyền tin nhắn thời gian thực và quản lý phòng chat.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WebRTC: Kết nối cuộc gọi thoại, gọi video và livestream peer-to-peer.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Docker &amp; Docker Compose: Đồng bộ môi trường chạy dev &amp; 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4. Các Phân Hệ Tính Năng Chính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754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Xác thực &amp; Mạng xã hội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Đăng ký, gửi mã xác thực OTP thực qua Gmail.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Đăng bài viết kèm ảnh/video, like, comment, lưu trữ.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023360"/>
            <a:ext cx="47548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4389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Thương mại &amp; Check-in QR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Đặt vé trực tuyến, xuất vé dạng QR Code bảo mật.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Khu du lịch quét QR Code check-in nhanh.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2415" y="1828800"/>
            <a:ext cx="4754880" cy="41148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5295" y="201168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Arial"/>
              </a:defRPr>
            </a:pPr>
            <a:r>
              <a:t>Realtime Communication &amp; Stream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Nhắn tin tức thời (realtime chat) cá nhân và nhóm.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Đàm thoại trực tiếp (Video Call) công nghệ WebRTC kết nối peer-to-peer mượt mà.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Tích hợp phát Livestream trực tiếp trên nền tảng mạng xã hội kết nối người xem.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Tự động bật/tắt thiết bị camera và micro trực quan.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5. Thiết Kế Cơ Sở Dữ Liệu (MySQL)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Thực thể chính &amp; Quan hệ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nguoi_dung: Quản lý tài khoản khách hàng, khu du lịch, admin.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bai_viet, binh_luan, tuong_tac: Lưu thông tin hoạt động mạng xã hội.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dat_ve, ve_dich_vu: Quản lý thông tin đặt chỗ và trạng thái vé.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tin_nhan, phong_chat: Quản lý thông tin nhắn tin realtime.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22415" y="182880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201168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Đặc điểm thiết kế DB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Chuẩn hóa dữ liệu để tránh dư thừa dữ liệu (Data redundancy).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Sử dụng ràng buộc khóa ngoại (Foreign Keys) để đảm bảo tính toàn vẹn tham chiếu.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Lưu trữ dữ liệu dạng JSON cho các thuộc tính động (ví dụ: danh sách sở thích).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Tối ưu hóa các truy vấn JOIN để lấy dữ liệu bài viết kèm tương tác và thông tin người đăng.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6. Điểm Sáng Kỹ Thuật &amp; Tối Ưu Hóa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754880" cy="41148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Arial"/>
              </a:defRPr>
            </a:pPr>
            <a:r>
              <a:t>Hàng đợi ICE Candidate (WebRTC)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Vấn đề: Ứng dụng WebRTC bị lỗi đen màn hình do các gói tin địa chỉ mạng (ICE Candidate) của người gọi đến trước khi người nhận bấm chấp nhận cuộc gọi.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Giải pháp: Xây dựng cơ chế hàng đợi (Queue) lưu trữ tạm thời các ICE candidate.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Kết quả: Ngay sau khi bấm OK kết nối, các gói tin được lấy ra và add đồng loạt, thiết lập camera và âm thanh mượt mà 100%.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22415" y="182880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201168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Tính ổn định &amp; Triển khai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Gửi mail OTP thực tế: Sử dụng Nodemailer kết nối App Password bảo mật an toàn.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Docker hóa toàn bộ: Dễ dàng cấu hình và khởi chạy ứng dụng với một lệnh duy nhất.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Cơ chế tự khởi tạo Admin mặc định khi database trống, tăng tính tiện lợi khi cài đặt hệ thống.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7. Demo Một Số Giao Diện Hệ Thống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3200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Mạng Xã Hội &amp; Đặt Vé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Bảng tin hiển thị bài đăng ảnh/video đẹp mắt.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Trang thông tin khu du lịch với các nút Đặt vé nhanh.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Biểu mẫu điền thông tin và thanh toán hóa đơn.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5190" y="1828800"/>
            <a:ext cx="3200400" cy="41148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8070" y="201168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Arial"/>
              </a:defRPr>
            </a:pPr>
            <a:r>
              <a:t>Nhắn Tin &amp; Gọi Video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Khung trò chuyện thời gian thực tích hợp gửi ảnh.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Giao diện gọi Video hiển thị trực tiếp camera local và đối phương toàn màn hình.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Nút bật tắt mic/camera trực quan.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76895" y="1828800"/>
            <a:ext cx="3200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9775" y="2011680"/>
            <a:ext cx="28346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Trang Đối Tác &amp; Admin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Vé QR Code gửi về cho khách hàng.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Trang quản lý booking và quét mã QR check-in.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Biểu đồ thống kê doanh thu theo thời gian của khu du lịch.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8. Kết Quả &amp; Hướng Phát Triển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7548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Đánh giá kết quả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Hoàn thiện 100% các tính năng nghiệp vụ cốt lõi theo kế hoạch đặt ra.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Kết nối chat tức thời và gọi video, livestream hoạt động ổn định và mượt mà.</a:t>
            </a:r>
          </a:p>
          <a:p>
            <a:pPr>
              <a:spcAft>
                <a:spcPts val="800"/>
              </a:spcAft>
              <a:defRPr sz="1400">
                <a:solidFill>
                  <a:srgbClr val="1E293B"/>
                </a:solidFill>
                <a:latin typeface="Arial"/>
              </a:defRPr>
            </a:pPr>
            <a:r>
              <a:t>• Hệ thống database được tối ưu truy vấn tốt, đảm bảo tốc độ phản hồi nhanh.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22415" y="1828800"/>
            <a:ext cx="4754880" cy="41148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2011680"/>
            <a:ext cx="4389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EA5E9"/>
                </a:solidFill>
                <a:latin typeface="Arial"/>
              </a:defRPr>
            </a:pPr>
            <a:r>
              <a:t>Hướng phát triển đề tài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Tích hợp các cổng thanh toán điện tử chính thức (VNPay, MoMo, PayPal).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Sử dụng công nghệ AI đề xuất địa điểm du lịch (Recommendation System) theo sở thích.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Phát triển phiên bản ứng dụng di động Hybrid (React Native/Flutter) để tối ưu trải nghiệm scan QR.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CẢM ƠN HỘI ĐỒNG THẦY CÔ VÀ CÁC BẠN ĐÃ LẮNG NGHE!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EA5E9"/>
                </a:solidFill>
                <a:latin typeface="Arial"/>
              </a:defRPr>
            </a:pPr>
            <a:r>
              <a:t>Em xin kính mong nhận được các ý kiến đóng góp và câu hỏi từ Hội đồng chuyên môn.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