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95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71E3"/>
                </a:solidFill>
                <a:latin typeface="Arial"/>
              </a:defRPr>
            </a:pPr>
            <a:r>
              <a:t>TRAVELCONNECT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1D1D1F"/>
                </a:solidFill>
                <a:latin typeface="Arial"/>
              </a:defRPr>
            </a:pPr>
            <a:r>
              <a:t>Hệ thống mạng xã hội tích hợp đặt vé &amp; check-in du lịch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D1D1F"/>
                </a:solidFill>
                <a:latin typeface="Arial"/>
              </a:defRPr>
            </a:pPr>
            <a:r>
              <a:rPr dirty="0"/>
              <a:t>Sinh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: Phan </a:t>
            </a:r>
            <a:r>
              <a:rPr dirty="0" err="1"/>
              <a:t>Đình</a:t>
            </a:r>
            <a:r>
              <a:rPr dirty="0"/>
              <a:t> Lu</a:t>
            </a:r>
            <a:r>
              <a:rPr lang="en-US" dirty="0"/>
              <a:t>yến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D1D1F"/>
                </a:solidFill>
                <a:latin typeface="Arial"/>
              </a:defRPr>
            </a:pP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: 22050036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789920" cy="7315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800" b="1">
                <a:solidFill>
                  <a:srgbClr val="0071E3"/>
                </a:solidFill>
                <a:latin typeface="Arial"/>
              </a:defRPr>
            </a:pPr>
            <a:r>
              <a:t>Đặt vấn đề &amp; Giải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5669280" cy="502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tế</a:t>
            </a:r>
            <a:r>
              <a:rPr dirty="0"/>
              <a:t> </a:t>
            </a:r>
            <a:r>
              <a:rPr dirty="0" err="1"/>
              <a:t>nhu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 du </a:t>
            </a:r>
            <a:r>
              <a:rPr dirty="0" err="1"/>
              <a:t>lịch</a:t>
            </a:r>
            <a:r>
              <a:rPr dirty="0"/>
              <a:t>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rPr dirty="0"/>
              <a:t>    * Du </a:t>
            </a:r>
            <a:r>
              <a:rPr dirty="0" err="1"/>
              <a:t>khách</a:t>
            </a:r>
            <a:r>
              <a:rPr dirty="0"/>
              <a:t> </a:t>
            </a:r>
            <a:r>
              <a:rPr dirty="0" err="1"/>
              <a:t>muốn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nối</a:t>
            </a:r>
            <a:r>
              <a:rPr dirty="0"/>
              <a:t>, chia </a:t>
            </a:r>
            <a:r>
              <a:rPr dirty="0" err="1"/>
              <a:t>sẻ</a:t>
            </a:r>
            <a:r>
              <a:rPr dirty="0"/>
              <a:t> </a:t>
            </a:r>
            <a:r>
              <a:rPr dirty="0" err="1"/>
              <a:t>trải</a:t>
            </a:r>
            <a:r>
              <a:rPr dirty="0"/>
              <a:t> </a:t>
            </a:r>
            <a:r>
              <a:rPr dirty="0" err="1"/>
              <a:t>nghiệm</a:t>
            </a:r>
            <a:r>
              <a:rPr dirty="0"/>
              <a:t> </a:t>
            </a:r>
            <a:r>
              <a:rPr dirty="0" err="1"/>
              <a:t>như</a:t>
            </a:r>
            <a:r>
              <a:rPr dirty="0"/>
              <a:t> </a:t>
            </a:r>
            <a:r>
              <a:rPr dirty="0" err="1"/>
              <a:t>mạng</a:t>
            </a:r>
            <a:r>
              <a:rPr dirty="0"/>
              <a:t> </a:t>
            </a:r>
            <a:r>
              <a:rPr dirty="0" err="1"/>
              <a:t>xã</a:t>
            </a:r>
            <a:r>
              <a:rPr dirty="0"/>
              <a:t> </a:t>
            </a:r>
            <a:r>
              <a:rPr dirty="0" err="1"/>
              <a:t>hội</a:t>
            </a:r>
            <a:r>
              <a:rPr dirty="0"/>
              <a:t>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rPr dirty="0"/>
              <a:t>    *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cụ</a:t>
            </a:r>
            <a:r>
              <a:rPr dirty="0"/>
              <a:t> </a:t>
            </a:r>
            <a:r>
              <a:rPr dirty="0" err="1"/>
              <a:t>đặt</a:t>
            </a:r>
            <a:r>
              <a:rPr dirty="0"/>
              <a:t> </a:t>
            </a:r>
            <a:r>
              <a:rPr dirty="0" err="1"/>
              <a:t>vé</a:t>
            </a:r>
            <a:r>
              <a:rPr dirty="0"/>
              <a:t>, </a:t>
            </a:r>
            <a:r>
              <a:rPr dirty="0" err="1"/>
              <a:t>thanh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điện</a:t>
            </a:r>
            <a:r>
              <a:rPr dirty="0"/>
              <a:t> </a:t>
            </a:r>
            <a:r>
              <a:rPr dirty="0" err="1"/>
              <a:t>tử</a:t>
            </a:r>
            <a:r>
              <a:rPr dirty="0"/>
              <a:t> </a:t>
            </a:r>
            <a:r>
              <a:rPr dirty="0" err="1"/>
              <a:t>nhanh</a:t>
            </a:r>
            <a:r>
              <a:rPr dirty="0"/>
              <a:t> </a:t>
            </a:r>
            <a:r>
              <a:rPr dirty="0" err="1"/>
              <a:t>chóng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rPr dirty="0" err="1"/>
              <a:t>Hạn</a:t>
            </a:r>
            <a:r>
              <a:rPr dirty="0"/>
              <a:t> </a:t>
            </a:r>
            <a:r>
              <a:rPr dirty="0" err="1"/>
              <a:t>chế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pháp</a:t>
            </a:r>
            <a:r>
              <a:rPr dirty="0"/>
              <a:t> </a:t>
            </a:r>
            <a:r>
              <a:rPr dirty="0" err="1"/>
              <a:t>cũ</a:t>
            </a:r>
            <a:r>
              <a:rPr dirty="0"/>
              <a:t>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rPr dirty="0"/>
              <a:t>    * </a:t>
            </a:r>
            <a:r>
              <a:rPr dirty="0" err="1"/>
              <a:t>Mạng</a:t>
            </a:r>
            <a:r>
              <a:rPr dirty="0"/>
              <a:t> </a:t>
            </a:r>
            <a:r>
              <a:rPr dirty="0" err="1"/>
              <a:t>xã</a:t>
            </a:r>
            <a:r>
              <a:rPr dirty="0"/>
              <a:t> </a:t>
            </a:r>
            <a:r>
              <a:rPr dirty="0" err="1"/>
              <a:t>hội</a:t>
            </a:r>
            <a:r>
              <a:rPr dirty="0"/>
              <a:t> </a:t>
            </a:r>
            <a:r>
              <a:rPr dirty="0" err="1"/>
              <a:t>lớn</a:t>
            </a:r>
            <a:r>
              <a:rPr dirty="0"/>
              <a:t> (FB, Instagram)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hỗ</a:t>
            </a:r>
            <a:r>
              <a:rPr dirty="0"/>
              <a:t> </a:t>
            </a:r>
            <a:r>
              <a:rPr dirty="0" err="1"/>
              <a:t>trợ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soát</a:t>
            </a:r>
            <a:r>
              <a:rPr dirty="0"/>
              <a:t> </a:t>
            </a:r>
            <a:r>
              <a:rPr dirty="0" err="1"/>
              <a:t>vé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check-in.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rPr dirty="0"/>
              <a:t>    * App </a:t>
            </a:r>
            <a:r>
              <a:rPr dirty="0" err="1"/>
              <a:t>đặt</a:t>
            </a:r>
            <a:r>
              <a:rPr dirty="0"/>
              <a:t> </a:t>
            </a:r>
            <a:r>
              <a:rPr dirty="0" err="1"/>
              <a:t>vé</a:t>
            </a:r>
            <a:r>
              <a:rPr dirty="0"/>
              <a:t> </a:t>
            </a:r>
            <a:r>
              <a:rPr dirty="0" err="1"/>
              <a:t>truyền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thiếu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chia </a:t>
            </a:r>
            <a:r>
              <a:rPr dirty="0" err="1"/>
              <a:t>sẻ</a:t>
            </a:r>
            <a:r>
              <a:rPr dirty="0"/>
              <a:t>, </a:t>
            </a:r>
            <a:r>
              <a:rPr dirty="0" err="1"/>
              <a:t>thảo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 </a:t>
            </a:r>
            <a:r>
              <a:rPr dirty="0" err="1"/>
              <a:t>cộng</a:t>
            </a:r>
            <a:r>
              <a:rPr dirty="0"/>
              <a:t> </a:t>
            </a:r>
            <a:r>
              <a:rPr dirty="0" err="1"/>
              <a:t>đồng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pháp</a:t>
            </a:r>
            <a:r>
              <a:rPr dirty="0"/>
              <a:t> </a:t>
            </a:r>
            <a:r>
              <a:rPr dirty="0" err="1"/>
              <a:t>TravelConnect</a:t>
            </a:r>
            <a:r>
              <a:rPr dirty="0"/>
              <a:t>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rPr dirty="0"/>
              <a:t>    *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mạng</a:t>
            </a:r>
            <a:r>
              <a:rPr dirty="0"/>
              <a:t> </a:t>
            </a:r>
            <a:r>
              <a:rPr dirty="0" err="1"/>
              <a:t>xã</a:t>
            </a:r>
            <a:r>
              <a:rPr dirty="0"/>
              <a:t> </a:t>
            </a:r>
            <a:r>
              <a:rPr dirty="0" err="1"/>
              <a:t>hội</a:t>
            </a:r>
            <a:r>
              <a:rPr dirty="0"/>
              <a:t> chia </a:t>
            </a:r>
            <a:r>
              <a:rPr dirty="0" err="1"/>
              <a:t>sẻ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/review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đặt</a:t>
            </a:r>
            <a:r>
              <a:rPr dirty="0"/>
              <a:t> </a:t>
            </a:r>
            <a:r>
              <a:rPr dirty="0" err="1"/>
              <a:t>vé</a:t>
            </a:r>
            <a:r>
              <a:rPr dirty="0"/>
              <a:t>/</a:t>
            </a:r>
            <a:r>
              <a:rPr dirty="0" err="1"/>
              <a:t>thanh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ảo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789920" cy="7315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800" b="1">
                <a:solidFill>
                  <a:srgbClr val="0071E3"/>
                </a:solidFill>
                <a:latin typeface="Arial"/>
              </a:defRPr>
            </a:pPr>
            <a:r>
              <a:t>Mục tiêu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5669280" cy="502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t>Đối với Khách du lịch: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Tìm kiếm, lên kế hoạch lịch trình chuyến đi chi tiết.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Xem bài đăng, like, comment, và lưu các bài viết yêu thích.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Đặt vé dịch vụ khu du lịch, thanh toán qua ví điện tử ảo.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t>Đối với Đối tác khu du lịch (KDL):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Cấu hình và quản lý các gói dịch vụ bán vé.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Kiểm soát soát vé ra vào thông qua quét mã QR Code bảo mật.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t>Đối với Quản trị hệ thống (Admin):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Giám sát, kiểm duyệt KDL mới, quản lý tài khoản và hoa hồng đơn hàng.</a:t>
            </a:r>
          </a:p>
        </p:txBody>
      </p:sp>
      <p:pic>
        <p:nvPicPr>
          <p:cNvPr id="4" name="Picture 3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846320" cy="15549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789920" cy="7315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800" b="1">
                <a:solidFill>
                  <a:srgbClr val="0071E3"/>
                </a:solidFill>
                <a:latin typeface="Arial"/>
              </a:defRPr>
            </a:pPr>
            <a:r>
              <a:t>Kiến trúc công nghệ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5669280" cy="502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t>Hệ thống xây dựng theo mô hình Client-Server hiện đại: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Giao diện (Client): React + Vite (nhanh, tối ưu hóa CSS).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Máy chủ (Backend API): Node.js + Express.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Cơ sở dữ liệu: MySQL 8 (lưu trữ quan hệ chặt chẽ).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Kết nối Realtime: Socket.IO (truyền tin nhắn và thông báo tức thời).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Đóng gói Docker: Sử dụng Docker Compose đồng nhất môi trường dev và production.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Triển khai: Đã cấu hình kịch bản tự động setup trên máy chủ ảo AWS EC2.</a:t>
            </a:r>
          </a:p>
        </p:txBody>
      </p:sp>
      <p:pic>
        <p:nvPicPr>
          <p:cNvPr id="4" name="Picture 3" descr="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846320" cy="35221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789920" cy="7315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800" b="1">
                <a:solidFill>
                  <a:srgbClr val="0071E3"/>
                </a:solidFill>
                <a:latin typeface="Arial"/>
              </a:defRPr>
            </a:pPr>
            <a:r>
              <a:t>Luồng dữ liệu hệ thống (DFD)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5669280" cy="502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t>Mức ngữ cảnh: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Khách hàng, đối tác, admin tương tác dữ liệu trực tiếp với hệ thống.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Tích hợp Mailer gửi OTP đăng ký/khôi phục mật khẩu.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t>Mức 1 (Vận hành):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Phân hệ 1: Quản lý tài khoản (Đăng ký, Đăng nhập, OTP).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Phân hệ 2: Cộng đồng &amp; Mạng xã hội (Bài viết, Like, Comment).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Phân hệ 3: Đặt vé &amp; Thanh toán (Hóa đơn, trừ tiền số dư ví).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Phân hệ 4: Soát vé &amp; Quản lý KDL (Check-in QR, Thống kê).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Phân hệ 5: Quản trị hệ thống.</a:t>
            </a:r>
          </a:p>
        </p:txBody>
      </p:sp>
      <p:pic>
        <p:nvPicPr>
          <p:cNvPr id="4" name="Picture 3" descr="dfd_lev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846320" cy="20715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789920" cy="7315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800" b="1">
                <a:solidFill>
                  <a:srgbClr val="0071E3"/>
                </a:solidFill>
                <a:latin typeface="Arial"/>
              </a:defRPr>
            </a:pPr>
            <a:r>
              <a:t>Thiết kế Cơ sở dữ liệu (ERD)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5669280" cy="502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t>Cơ sở dữ liệu gồm 12 thực thể chính: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nguoi_dung: Lưu trữ tài khoản khách du lịch, đối tác KDL và admin.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ho_so_khu_du_lich: Chứa thông tin đăng ký pháp lý của đối tác.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dich_vu: Danh sách vé KDL đăng bán kèm giá và mô tả.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dat_ve: Quản lý mã vé QR, thông tin khách đi và trạng thái check-in.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thanh_toan: Ghi nhận lịch sử giao dịch và hóa đơn thanh toán ví.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bai_viet, binh_luan, luot_thich: Cấu thành mạng xã hội.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phong_chat, tin_nhan: Lưu trữ thông tin chat real-time.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789920" cy="7315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800" b="1">
                <a:solidFill>
                  <a:srgbClr val="0071E3"/>
                </a:solidFill>
                <a:latin typeface="Arial"/>
              </a:defRPr>
            </a:pPr>
            <a:r>
              <a:t>Quy trình đặt vé &amp; Soát vé QR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5669280" cy="502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t>Luồng đặt vé của du khách: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1. Khách hàng đặt vé dịch vụ -&gt; Hệ thống tạo hóa đơn chờ thanh toán.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2. Khách thực hiện Thanh toán bằng ví điện tử ảo.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3. Trạng thái đổi thành 'Đã thanh toán', hệ thống xuất mã QR vé độc nhất.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t>Luồng soát vé tại cổng KDL: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1. Du khách trình diện mã QR vé trên điện thoại.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2. Nhân viên KDL dùng camera quét QR hoặc nhập code check-in.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3. Backend kiểm định mã vé, đối chiếu CSDL, ghi nhận check-in thành công.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789920" cy="7315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800" b="1">
                <a:solidFill>
                  <a:srgbClr val="0071E3"/>
                </a:solidFill>
                <a:latin typeface="Arial"/>
              </a:defRPr>
            </a:pPr>
            <a:r>
              <a:t>Giao diện Khách du lịch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5669280" cy="502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t>Bảng tin mạng xã hội: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Hiển thị danh sách các bài viết review trải nghiệm mới nhất.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Thích, bình luận tức thời thông qua Socket.IO.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t>Trang Khám phá (Explore):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Hiển thị danh sách các KDL nổi bật và gợi ý địa điểm.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t>Lên lịch trình chuyến đi: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Thiết lập hành trình chi tiết, thời gian và hoạt động.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t>Ví thanh toán: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Xem số dư, nạp/rút tiền ảo và thực hiện thanh toán hóa đơn.</a:t>
            </a:r>
          </a:p>
        </p:txBody>
      </p:sp>
      <p:pic>
        <p:nvPicPr>
          <p:cNvPr id="4" name="Picture 3" descr="screenshot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846320" cy="2703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789920" cy="7315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800" b="1">
                <a:solidFill>
                  <a:srgbClr val="0071E3"/>
                </a:solidFill>
                <a:latin typeface="Arial"/>
              </a:defRPr>
            </a:pPr>
            <a:r>
              <a:t>Giao diện Đối tác &amp;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5669280" cy="502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t>Trang Quản lý Đối tác KDL: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Thêm/sửa/xóa dịch vụ và cấu hình giá bán vé.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Quét QR kiểm soát soát vé check-in ngay tại cổng.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Biểu đồ doanh thu kinh doanh theo tháng trực quan.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t>Dashboard Quản trị của Admin: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Bảng điều khiển xem tổng số lượng user, doanh thu toàn sàn.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Phê duyệt hồ sơ KDL đăng ký mới vào mạng lưới.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t>    * Khóa tài khoản người dùng vi phạm quy chế cộng đồng.</a:t>
            </a:r>
          </a:p>
        </p:txBody>
      </p:sp>
      <p:pic>
        <p:nvPicPr>
          <p:cNvPr id="4" name="Picture 3" descr="screen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846320" cy="2703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789920" cy="7315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defRPr sz="2800" b="1">
                <a:solidFill>
                  <a:srgbClr val="0071E3"/>
                </a:solidFill>
                <a:latin typeface="Arial"/>
              </a:defRPr>
            </a:pPr>
            <a:r>
              <a:t>Kết luận &amp; Hướng phát triển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029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đạt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rPr dirty="0"/>
              <a:t>    * Hoàn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nền</a:t>
            </a:r>
            <a:r>
              <a:rPr dirty="0"/>
              <a:t> </a:t>
            </a:r>
            <a:r>
              <a:rPr dirty="0" err="1"/>
              <a:t>tảng</a:t>
            </a:r>
            <a:r>
              <a:rPr dirty="0"/>
              <a:t> du </a:t>
            </a:r>
            <a:r>
              <a:rPr dirty="0" err="1"/>
              <a:t>lịch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mạng</a:t>
            </a:r>
            <a:r>
              <a:rPr dirty="0"/>
              <a:t> </a:t>
            </a:r>
            <a:r>
              <a:rPr dirty="0" err="1"/>
              <a:t>xã</a:t>
            </a:r>
            <a:r>
              <a:rPr dirty="0"/>
              <a:t> </a:t>
            </a:r>
            <a:r>
              <a:rPr dirty="0" err="1"/>
              <a:t>hội</a:t>
            </a:r>
            <a:r>
              <a:rPr dirty="0"/>
              <a:t> </a:t>
            </a:r>
            <a:r>
              <a:rPr dirty="0" err="1"/>
              <a:t>đầy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rPr dirty="0"/>
              <a:t>    * </a:t>
            </a:r>
            <a:r>
              <a:rPr dirty="0" err="1"/>
              <a:t>Triển</a:t>
            </a:r>
            <a:r>
              <a:rPr dirty="0"/>
              <a:t> </a:t>
            </a:r>
            <a:r>
              <a:rPr dirty="0" err="1"/>
              <a:t>khai</a:t>
            </a:r>
            <a:r>
              <a:rPr dirty="0"/>
              <a:t> container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hoàn</a:t>
            </a:r>
            <a:r>
              <a:rPr dirty="0"/>
              <a:t> </a:t>
            </a:r>
            <a:r>
              <a:rPr dirty="0" err="1"/>
              <a:t>chỉnh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Docker </a:t>
            </a:r>
            <a:r>
              <a:rPr dirty="0" err="1"/>
              <a:t>hoạt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ổn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rPr dirty="0"/>
              <a:t>    *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Socket.IO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chế</a:t>
            </a:r>
            <a:r>
              <a:rPr dirty="0"/>
              <a:t> </a:t>
            </a:r>
            <a:r>
              <a:rPr dirty="0" err="1"/>
              <a:t>bảo</a:t>
            </a:r>
            <a:r>
              <a:rPr dirty="0"/>
              <a:t> </a:t>
            </a:r>
            <a:r>
              <a:rPr dirty="0" err="1"/>
              <a:t>mật</a:t>
            </a:r>
            <a:r>
              <a:rPr dirty="0"/>
              <a:t> (OTP, </a:t>
            </a:r>
            <a:r>
              <a:rPr dirty="0" err="1"/>
              <a:t>bcrypt</a:t>
            </a:r>
            <a:r>
              <a:rPr dirty="0"/>
              <a:t>, JWT)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700">
                <a:solidFill>
                  <a:srgbClr val="1D1D1F"/>
                </a:solidFill>
                <a:latin typeface="Arial"/>
              </a:defRPr>
            </a:pP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triển</a:t>
            </a:r>
            <a:r>
              <a:rPr dirty="0"/>
              <a:t>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rPr dirty="0"/>
              <a:t>    *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cổng</a:t>
            </a:r>
            <a:r>
              <a:rPr dirty="0"/>
              <a:t> </a:t>
            </a:r>
            <a:r>
              <a:rPr dirty="0" err="1"/>
              <a:t>thanh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tế</a:t>
            </a:r>
            <a:r>
              <a:rPr dirty="0"/>
              <a:t> (VNPAY, </a:t>
            </a:r>
            <a:r>
              <a:rPr dirty="0" err="1"/>
              <a:t>MoMo</a:t>
            </a:r>
            <a:r>
              <a:rPr dirty="0"/>
              <a:t> API </a:t>
            </a:r>
            <a:r>
              <a:rPr dirty="0" err="1"/>
              <a:t>thật</a:t>
            </a:r>
            <a:r>
              <a:rPr dirty="0"/>
              <a:t>).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rPr dirty="0"/>
              <a:t>    * </a:t>
            </a:r>
            <a:r>
              <a:rPr dirty="0" err="1"/>
              <a:t>Áp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AI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gợi</a:t>
            </a:r>
            <a:r>
              <a:rPr dirty="0"/>
              <a:t> ý </a:t>
            </a:r>
            <a:r>
              <a:rPr dirty="0" err="1"/>
              <a:t>địa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du </a:t>
            </a:r>
            <a:r>
              <a:rPr dirty="0" err="1"/>
              <a:t>lịch</a:t>
            </a:r>
            <a:r>
              <a:rPr dirty="0"/>
              <a:t> </a:t>
            </a:r>
            <a:r>
              <a:rPr dirty="0" err="1"/>
              <a:t>dựa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vi.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86868B"/>
                </a:solidFill>
                <a:latin typeface="Arial"/>
              </a:defRPr>
            </a:pPr>
            <a:r>
              <a:rPr dirty="0"/>
              <a:t>    *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triển</a:t>
            </a:r>
            <a:r>
              <a:rPr dirty="0"/>
              <a:t> </a:t>
            </a:r>
            <a:r>
              <a:rPr dirty="0" err="1"/>
              <a:t>phiên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di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đa</a:t>
            </a:r>
            <a:r>
              <a:rPr dirty="0"/>
              <a:t> </a:t>
            </a:r>
            <a:r>
              <a:rPr dirty="0" err="1"/>
              <a:t>nền</a:t>
            </a:r>
            <a:r>
              <a:rPr dirty="0"/>
              <a:t> </a:t>
            </a:r>
            <a:r>
              <a:rPr dirty="0" err="1"/>
              <a:t>tảng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1160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PHAN ĐÌNH LUYẾN</cp:lastModifiedBy>
  <cp:revision>2</cp:revision>
  <dcterms:created xsi:type="dcterms:W3CDTF">2013-01-27T09:14:16Z</dcterms:created>
  <dcterms:modified xsi:type="dcterms:W3CDTF">2026-07-03T05:25:18Z</dcterms:modified>
  <cp:category/>
</cp:coreProperties>
</file>