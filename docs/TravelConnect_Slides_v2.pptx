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914400" y="731520"/>
            <a:ext cx="1097280" cy="1097280"/>
          </a:xfrm>
          <a:prstGeom prst="rect">
            <a:avLst/>
          </a:prstGeom>
        </p:spPr>
      </p:pic>
      <p:sp>
        <p:nvSpPr>
          <p:cNvPr id="3" name="TextBox 2"/>
          <p:cNvSpPr txBox="1"/>
          <p:nvPr/>
        </p:nvSpPr>
        <p:spPr>
          <a:xfrm>
            <a:off x="914400" y="2011680"/>
            <a:ext cx="10362895" cy="548640"/>
          </a:xfrm>
          <a:prstGeom prst="rect">
            <a:avLst/>
          </a:prstGeom>
          <a:noFill/>
        </p:spPr>
        <p:txBody>
          <a:bodyPr wrap="none">
            <a:spAutoFit/>
          </a:bodyPr>
          <a:lstStyle/>
          <a:p>
            <a:pPr>
              <a:defRPr sz="1800" b="1">
                <a:solidFill>
                  <a:srgbClr val="0EA5E9"/>
                </a:solidFill>
                <a:latin typeface="Arial"/>
              </a:defRPr>
            </a:pPr>
            <a:r>
              <a:t>MÔN: CHUYÊN ĐỀ 1</a:t>
            </a:r>
          </a:p>
        </p:txBody>
      </p:sp>
      <p:sp>
        <p:nvSpPr>
          <p:cNvPr id="4" name="TextBox 3"/>
          <p:cNvSpPr txBox="1"/>
          <p:nvPr/>
        </p:nvSpPr>
        <p:spPr>
          <a:xfrm>
            <a:off x="914400" y="2560320"/>
            <a:ext cx="10362895" cy="1828800"/>
          </a:xfrm>
          <a:prstGeom prst="rect">
            <a:avLst/>
          </a:prstGeom>
          <a:noFill/>
        </p:spPr>
        <p:txBody>
          <a:bodyPr wrap="square">
            <a:spAutoFit/>
          </a:bodyPr>
          <a:lstStyle/>
          <a:p>
            <a:pPr>
              <a:defRPr sz="3600" b="1">
                <a:solidFill>
                  <a:srgbClr val="FFFFFF"/>
                </a:solidFill>
                <a:latin typeface="Arial"/>
              </a:defRPr>
            </a:pPr>
            <a:r>
              <a:t>TRAVELCONNECT - NỀN TẢNG MẠNG XÃ HỘI &amp; ĐẶT VÉ DU LỊCH TÍCH HỢP</a:t>
            </a:r>
          </a:p>
        </p:txBody>
      </p:sp>
      <p:sp>
        <p:nvSpPr>
          <p:cNvPr id="5" name="TextBox 4"/>
          <p:cNvSpPr txBox="1"/>
          <p:nvPr/>
        </p:nvSpPr>
        <p:spPr>
          <a:xfrm>
            <a:off x="914400" y="4572000"/>
            <a:ext cx="7315200" cy="1828800"/>
          </a:xfrm>
          <a:prstGeom prst="rect">
            <a:avLst/>
          </a:prstGeom>
          <a:noFill/>
        </p:spPr>
        <p:txBody>
          <a:bodyPr wrap="none">
            <a:spAutoFit/>
          </a:bodyPr>
          <a:lstStyle/>
          <a:p>
            <a:pPr>
              <a:spcAft>
                <a:spcPts val="800"/>
              </a:spcAft>
              <a:defRPr sz="1600">
                <a:solidFill>
                  <a:srgbClr val="FFFFFF"/>
                </a:solidFill>
              </a:defRPr>
            </a:pPr>
            <a:r>
              <a:t>Giảng viên hướng dẫn: </a:t>
            </a:r>
            <a:r>
              <a:rPr b="1">
                <a:solidFill>
                  <a:srgbClr val="0EA5E9"/>
                </a:solidFill>
              </a:rPr>
              <a:t>Huỳnh Anh Tuấn</a:t>
            </a:r>
          </a:p>
          <a:p>
            <a:pPr>
              <a:spcAft>
                <a:spcPts val="800"/>
              </a:spcAft>
              <a:defRPr sz="1600">
                <a:solidFill>
                  <a:srgbClr val="FFFFFF"/>
                </a:solidFill>
              </a:defRPr>
            </a:pPr>
            <a:r>
              <a:t>Sinh viên thực hiện: </a:t>
            </a:r>
            <a:r>
              <a:rPr b="1">
                <a:solidFill>
                  <a:srgbClr val="0EA5E9"/>
                </a:solidFill>
              </a:rPr>
              <a:t>Phan Đình Luyến</a:t>
            </a:r>
          </a:p>
          <a:p>
            <a:pPr>
              <a:spcAft>
                <a:spcPts val="800"/>
              </a:spcAft>
              <a:defRPr sz="1600">
                <a:solidFill>
                  <a:srgbClr val="FFFFFF"/>
                </a:solidFill>
              </a:defRPr>
            </a:pPr>
            <a:r>
              <a:t>Mã số sinh viên: </a:t>
            </a:r>
            <a:r>
              <a:rPr b="1"/>
              <a:t>22050036</a:t>
            </a:r>
          </a:p>
        </p:txBody>
      </p:sp>
      <p:sp>
        <p:nvSpPr>
          <p:cNvPr id="6" name="Rectangle 5"/>
          <p:cNvSpPr/>
          <p:nvPr/>
        </p:nvSpPr>
        <p:spPr>
          <a:xfrm>
            <a:off x="914400" y="4389120"/>
            <a:ext cx="274320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731520"/>
          </a:xfrm>
          <a:prstGeom prst="rect">
            <a:avLst/>
          </a:prstGeom>
          <a:noFill/>
        </p:spPr>
        <p:txBody>
          <a:bodyPr wrap="square">
            <a:spAutoFit/>
          </a:bodyPr>
          <a:lstStyle/>
          <a:p>
            <a:pPr algn="l">
              <a:defRPr sz="2800" b="1">
                <a:solidFill>
                  <a:srgbClr val="FFFFFF"/>
                </a:solidFill>
                <a:latin typeface="Arial"/>
              </a:defRPr>
            </a:pPr>
            <a:r>
              <a:t>1. Đặt Vấn Đề &amp; Lý Do Chọn Đề Tài</a:t>
            </a:r>
          </a:p>
        </p:txBody>
      </p:sp>
      <p:pic>
        <p:nvPicPr>
          <p:cNvPr id="4" name="Picture 3" descr="logo.png"/>
          <p:cNvPicPr>
            <a:picLocks noChangeAspect="1"/>
          </p:cNvPicPr>
          <p:nvPr/>
        </p:nvPicPr>
        <p:blipFill>
          <a:blip r:embed="rId2"/>
          <a:stretch>
            <a:fillRect/>
          </a:stretch>
        </p:blipFill>
        <p:spPr>
          <a:xfrm>
            <a:off x="10972800" y="182880"/>
            <a:ext cx="731520" cy="731520"/>
          </a:xfrm>
          <a:prstGeom prst="rect">
            <a:avLst/>
          </a:prstGeom>
        </p:spPr>
      </p:pic>
      <p:sp>
        <p:nvSpPr>
          <p:cNvPr id="5" name="Rounded Rectangle 4"/>
          <p:cNvSpPr/>
          <p:nvPr/>
        </p:nvSpPr>
        <p:spPr>
          <a:xfrm>
            <a:off x="914400" y="1828800"/>
            <a:ext cx="47548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4389120" cy="3749040"/>
          </a:xfrm>
          <a:prstGeom prst="rect">
            <a:avLst/>
          </a:prstGeom>
          <a:noFill/>
        </p:spPr>
        <p:txBody>
          <a:bodyPr wrap="square">
            <a:spAutoFit/>
          </a:bodyPr>
          <a:lstStyle/>
          <a:p>
            <a:pPr>
              <a:spcAft>
                <a:spcPts val="1400"/>
              </a:spcAft>
              <a:defRPr sz="2000" b="1">
                <a:solidFill>
                  <a:srgbClr val="0F172A"/>
                </a:solidFill>
                <a:latin typeface="Arial"/>
              </a:defRPr>
            </a:pPr>
            <a:r>
              <a:t>Thực trạng &amp; Khó khăn</a:t>
            </a:r>
          </a:p>
          <a:p>
            <a:pPr>
              <a:spcAft>
                <a:spcPts val="800"/>
              </a:spcAft>
              <a:defRPr sz="1400">
                <a:solidFill>
                  <a:srgbClr val="1E293B"/>
                </a:solidFill>
                <a:latin typeface="Arial"/>
              </a:defRPr>
            </a:pPr>
            <a:r>
              <a:t>• Nhu cầu du lịch tự túc và tìm kiếm thông tin review chân thực tăng cao.</a:t>
            </a:r>
          </a:p>
          <a:p>
            <a:pPr>
              <a:spcAft>
                <a:spcPts val="800"/>
              </a:spcAft>
              <a:defRPr sz="1400">
                <a:solidFill>
                  <a:srgbClr val="1E293B"/>
                </a:solidFill>
                <a:latin typeface="Arial"/>
              </a:defRPr>
            </a:pPr>
            <a:r>
              <a:t>• Sự phân mảnh: Người dùng phải chuyển đổi quá nhiều ứng dụng (App review, App nhắn tin, App đặt vé riêng biệt).</a:t>
            </a:r>
          </a:p>
          <a:p>
            <a:pPr>
              <a:spcAft>
                <a:spcPts val="800"/>
              </a:spcAft>
              <a:defRPr sz="1400">
                <a:solidFill>
                  <a:srgbClr val="1E293B"/>
                </a:solidFill>
                <a:latin typeface="Arial"/>
              </a:defRPr>
            </a:pPr>
            <a:r>
              <a:t>• Mất nhiều thời gian để quản lý lịch trình và xác thực giao dịch vé thủ công.</a:t>
            </a:r>
          </a:p>
        </p:txBody>
      </p:sp>
      <p:sp>
        <p:nvSpPr>
          <p:cNvPr id="7" name="Rounded Rectangle 6"/>
          <p:cNvSpPr/>
          <p:nvPr/>
        </p:nvSpPr>
        <p:spPr>
          <a:xfrm>
            <a:off x="6522415" y="1828800"/>
            <a:ext cx="4754880" cy="4114800"/>
          </a:xfrm>
          <a:prstGeom prst="roundRect">
            <a:avLst/>
          </a:prstGeom>
          <a:solidFill>
            <a:srgbClr val="0F172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5295" y="2011680"/>
            <a:ext cx="4389120" cy="3749040"/>
          </a:xfrm>
          <a:prstGeom prst="rect">
            <a:avLst/>
          </a:prstGeom>
          <a:noFill/>
        </p:spPr>
        <p:txBody>
          <a:bodyPr wrap="square">
            <a:spAutoFit/>
          </a:bodyPr>
          <a:lstStyle/>
          <a:p>
            <a:pPr>
              <a:spcAft>
                <a:spcPts val="1400"/>
              </a:spcAft>
              <a:defRPr sz="2000" b="1">
                <a:solidFill>
                  <a:srgbClr val="0EA5E9"/>
                </a:solidFill>
                <a:latin typeface="Arial"/>
              </a:defRPr>
            </a:pPr>
            <a:r>
              <a:t>Giải pháp từ TravelConnect</a:t>
            </a:r>
          </a:p>
          <a:p>
            <a:pPr>
              <a:spcAft>
                <a:spcPts val="800"/>
              </a:spcAft>
              <a:defRPr sz="1400">
                <a:solidFill>
                  <a:srgbClr val="FFFFFF"/>
                </a:solidFill>
                <a:latin typeface="Arial"/>
              </a:defRPr>
            </a:pPr>
            <a:r>
              <a:t>• Mô hình 'All-in-One' tích hợp Mạng xã hội + Đặt vé + Nhắn tin gọi điện realtime.</a:t>
            </a:r>
          </a:p>
          <a:p>
            <a:pPr>
              <a:spcAft>
                <a:spcPts val="800"/>
              </a:spcAft>
              <a:defRPr sz="1400">
                <a:solidFill>
                  <a:srgbClr val="FFFFFF"/>
                </a:solidFill>
                <a:latin typeface="Arial"/>
              </a:defRPr>
            </a:pPr>
            <a:r>
              <a:t>• Tự động hóa hoàn toàn quy trình mua vé, xuất vé QR và check-in nhanh bằng camera.</a:t>
            </a:r>
          </a:p>
          <a:p>
            <a:pPr>
              <a:spcAft>
                <a:spcPts val="800"/>
              </a:spcAft>
              <a:defRPr sz="1400">
                <a:solidFill>
                  <a:srgbClr val="FFFFFF"/>
                </a:solidFill>
                <a:latin typeface="Arial"/>
              </a:defRPr>
            </a:pPr>
            <a:r>
              <a:t>• Giao diện thân thiện kết nối trực tiếp Khách du lịch - Đối tác khu du lịch - Admin.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731520"/>
          </a:xfrm>
          <a:prstGeom prst="rect">
            <a:avLst/>
          </a:prstGeom>
          <a:noFill/>
        </p:spPr>
        <p:txBody>
          <a:bodyPr wrap="square">
            <a:spAutoFit/>
          </a:bodyPr>
          <a:lstStyle/>
          <a:p>
            <a:pPr algn="l">
              <a:defRPr sz="2800" b="1">
                <a:solidFill>
                  <a:srgbClr val="FFFFFF"/>
                </a:solidFill>
                <a:latin typeface="Arial"/>
              </a:defRPr>
            </a:pPr>
            <a:r>
              <a:t>2. Mục Tiêu &amp; Phạm Vi Đề Tài</a:t>
            </a:r>
          </a:p>
        </p:txBody>
      </p:sp>
      <p:pic>
        <p:nvPicPr>
          <p:cNvPr id="4" name="Picture 3" descr="logo.png"/>
          <p:cNvPicPr>
            <a:picLocks noChangeAspect="1"/>
          </p:cNvPicPr>
          <p:nvPr/>
        </p:nvPicPr>
        <p:blipFill>
          <a:blip r:embed="rId2"/>
          <a:stretch>
            <a:fillRect/>
          </a:stretch>
        </p:blipFill>
        <p:spPr>
          <a:xfrm>
            <a:off x="10972800" y="182880"/>
            <a:ext cx="731520" cy="731520"/>
          </a:xfrm>
          <a:prstGeom prst="rect">
            <a:avLst/>
          </a:prstGeom>
        </p:spPr>
      </p:pic>
      <p:sp>
        <p:nvSpPr>
          <p:cNvPr id="5" name="Rounded Rectangle 4"/>
          <p:cNvSpPr/>
          <p:nvPr/>
        </p:nvSpPr>
        <p:spPr>
          <a:xfrm>
            <a:off x="914400" y="1828800"/>
            <a:ext cx="32004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2834640" cy="3749040"/>
          </a:xfrm>
          <a:prstGeom prst="rect">
            <a:avLst/>
          </a:prstGeom>
          <a:noFill/>
        </p:spPr>
        <p:txBody>
          <a:bodyPr wrap="square">
            <a:spAutoFit/>
          </a:bodyPr>
          <a:lstStyle/>
          <a:p>
            <a:pPr>
              <a:spcAft>
                <a:spcPts val="1400"/>
              </a:spcAft>
              <a:defRPr sz="2000" b="1">
                <a:solidFill>
                  <a:srgbClr val="0F172A"/>
                </a:solidFill>
                <a:latin typeface="Arial"/>
              </a:defRPr>
            </a:pPr>
            <a:r>
              <a:t>Khách Du Lịch (User)</a:t>
            </a:r>
          </a:p>
          <a:p>
            <a:pPr>
              <a:spcAft>
                <a:spcPts val="800"/>
              </a:spcAft>
              <a:defRPr sz="1400">
                <a:solidFill>
                  <a:srgbClr val="1E293B"/>
                </a:solidFill>
                <a:latin typeface="Arial"/>
              </a:defRPr>
            </a:pPr>
            <a:r>
              <a:t>• Tìm kiếm địa điểm du lịch.</a:t>
            </a:r>
          </a:p>
          <a:p>
            <a:pPr>
              <a:spcAft>
                <a:spcPts val="800"/>
              </a:spcAft>
              <a:defRPr sz="1400">
                <a:solidFill>
                  <a:srgbClr val="1E293B"/>
                </a:solidFill>
                <a:latin typeface="Arial"/>
              </a:defRPr>
            </a:pPr>
            <a:r>
              <a:t>• Đăng bài viết chia sẻ, tương tác (like, comment, save).</a:t>
            </a:r>
          </a:p>
          <a:p>
            <a:pPr>
              <a:spcAft>
                <a:spcPts val="800"/>
              </a:spcAft>
              <a:defRPr sz="1400">
                <a:solidFill>
                  <a:srgbClr val="1E293B"/>
                </a:solidFill>
                <a:latin typeface="Arial"/>
              </a:defRPr>
            </a:pPr>
            <a:r>
              <a:t>• Đặt vé dịch vụ trực tuyến và nhận mã QR check-in.</a:t>
            </a:r>
          </a:p>
          <a:p>
            <a:pPr>
              <a:spcAft>
                <a:spcPts val="800"/>
              </a:spcAft>
              <a:defRPr sz="1400">
                <a:solidFill>
                  <a:srgbClr val="1E293B"/>
                </a:solidFill>
                <a:latin typeface="Arial"/>
              </a:defRPr>
            </a:pPr>
            <a:r>
              <a:t>• Gọi điện video, nhắn tin thời gian thực.</a:t>
            </a:r>
          </a:p>
        </p:txBody>
      </p:sp>
      <p:sp>
        <p:nvSpPr>
          <p:cNvPr id="7" name="Rounded Rectangle 6"/>
          <p:cNvSpPr/>
          <p:nvPr/>
        </p:nvSpPr>
        <p:spPr>
          <a:xfrm>
            <a:off x="4495190" y="1828800"/>
            <a:ext cx="32004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78070" y="2011680"/>
            <a:ext cx="2834640" cy="3749040"/>
          </a:xfrm>
          <a:prstGeom prst="rect">
            <a:avLst/>
          </a:prstGeom>
          <a:noFill/>
        </p:spPr>
        <p:txBody>
          <a:bodyPr wrap="square">
            <a:spAutoFit/>
          </a:bodyPr>
          <a:lstStyle/>
          <a:p>
            <a:pPr>
              <a:spcAft>
                <a:spcPts val="1400"/>
              </a:spcAft>
              <a:defRPr sz="2000" b="1">
                <a:solidFill>
                  <a:srgbClr val="0F172A"/>
                </a:solidFill>
                <a:latin typeface="Arial"/>
              </a:defRPr>
            </a:pPr>
            <a:r>
              <a:t>Khu Du Lịch (Business)</a:t>
            </a:r>
          </a:p>
          <a:p>
            <a:pPr>
              <a:spcAft>
                <a:spcPts val="800"/>
              </a:spcAft>
              <a:defRPr sz="1400">
                <a:solidFill>
                  <a:srgbClr val="1E293B"/>
                </a:solidFill>
                <a:latin typeface="Arial"/>
              </a:defRPr>
            </a:pPr>
            <a:r>
              <a:t>• Đăng ký thông tin, thiết lập hồ sơ khu du lịch.</a:t>
            </a:r>
          </a:p>
          <a:p>
            <a:pPr>
              <a:spcAft>
                <a:spcPts val="800"/>
              </a:spcAft>
              <a:defRPr sz="1400">
                <a:solidFill>
                  <a:srgbClr val="1E293B"/>
                </a:solidFill>
                <a:latin typeface="Arial"/>
              </a:defRPr>
            </a:pPr>
            <a:r>
              <a:t>• Đăng bán các gói vé/dịch vụ.</a:t>
            </a:r>
          </a:p>
          <a:p>
            <a:pPr>
              <a:spcAft>
                <a:spcPts val="800"/>
              </a:spcAft>
              <a:defRPr sz="1400">
                <a:solidFill>
                  <a:srgbClr val="1E293B"/>
                </a:solidFill>
                <a:latin typeface="Arial"/>
              </a:defRPr>
            </a:pPr>
            <a:r>
              <a:t>• Quét mã QR của khách trực tiếp bằng camera điện thoại để check-in.</a:t>
            </a:r>
          </a:p>
          <a:p>
            <a:pPr>
              <a:spcAft>
                <a:spcPts val="800"/>
              </a:spcAft>
              <a:defRPr sz="1400">
                <a:solidFill>
                  <a:srgbClr val="1E293B"/>
                </a:solidFill>
                <a:latin typeface="Arial"/>
              </a:defRPr>
            </a:pPr>
            <a:r>
              <a:t>• Quản lý booking và xem biểu đồ thống kê doanh thu.</a:t>
            </a:r>
          </a:p>
        </p:txBody>
      </p:sp>
      <p:sp>
        <p:nvSpPr>
          <p:cNvPr id="9" name="Rounded Rectangle 8"/>
          <p:cNvSpPr/>
          <p:nvPr/>
        </p:nvSpPr>
        <p:spPr>
          <a:xfrm>
            <a:off x="8076895" y="1828800"/>
            <a:ext cx="32004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9775" y="2011680"/>
            <a:ext cx="2834640" cy="3749040"/>
          </a:xfrm>
          <a:prstGeom prst="rect">
            <a:avLst/>
          </a:prstGeom>
          <a:noFill/>
        </p:spPr>
        <p:txBody>
          <a:bodyPr wrap="square">
            <a:spAutoFit/>
          </a:bodyPr>
          <a:lstStyle/>
          <a:p>
            <a:pPr>
              <a:spcAft>
                <a:spcPts val="1400"/>
              </a:spcAft>
              <a:defRPr sz="2000" b="1">
                <a:solidFill>
                  <a:srgbClr val="0F172A"/>
                </a:solidFill>
                <a:latin typeface="Arial"/>
              </a:defRPr>
            </a:pPr>
            <a:r>
              <a:t>Hệ Thống (Admin)</a:t>
            </a:r>
          </a:p>
          <a:p>
            <a:pPr>
              <a:spcAft>
                <a:spcPts val="800"/>
              </a:spcAft>
              <a:defRPr sz="1400">
                <a:solidFill>
                  <a:srgbClr val="1E293B"/>
                </a:solidFill>
                <a:latin typeface="Arial"/>
              </a:defRPr>
            </a:pPr>
            <a:r>
              <a:t>• Quản lý danh sách người dùng và doanh nghiệp đối tác.</a:t>
            </a:r>
          </a:p>
          <a:p>
            <a:pPr>
              <a:spcAft>
                <a:spcPts val="800"/>
              </a:spcAft>
              <a:defRPr sz="1400">
                <a:solidFill>
                  <a:srgbClr val="1E293B"/>
                </a:solidFill>
                <a:latin typeface="Arial"/>
              </a:defRPr>
            </a:pPr>
            <a:r>
              <a:t>• Duyệt các yêu cầu đăng ký kinh doanh.</a:t>
            </a:r>
          </a:p>
          <a:p>
            <a:pPr>
              <a:spcAft>
                <a:spcPts val="800"/>
              </a:spcAft>
              <a:defRPr sz="1400">
                <a:solidFill>
                  <a:srgbClr val="1E293B"/>
                </a:solidFill>
                <a:latin typeface="Arial"/>
              </a:defRPr>
            </a:pPr>
            <a:r>
              <a:t>• Quản lý bài viết và tương tác của người dùng.</a:t>
            </a:r>
          </a:p>
          <a:p>
            <a:pPr>
              <a:spcAft>
                <a:spcPts val="800"/>
              </a:spcAft>
              <a:defRPr sz="1400">
                <a:solidFill>
                  <a:srgbClr val="1E293B"/>
                </a:solidFill>
                <a:latin typeface="Arial"/>
              </a:defRPr>
            </a:pPr>
            <a:r>
              <a:t>• Thống kê tổng quan hoạt động và cấu hình hệ thống.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731520"/>
          </a:xfrm>
          <a:prstGeom prst="rect">
            <a:avLst/>
          </a:prstGeom>
          <a:noFill/>
        </p:spPr>
        <p:txBody>
          <a:bodyPr wrap="square">
            <a:spAutoFit/>
          </a:bodyPr>
          <a:lstStyle/>
          <a:p>
            <a:pPr algn="l">
              <a:defRPr sz="2800" b="1">
                <a:solidFill>
                  <a:srgbClr val="FFFFFF"/>
                </a:solidFill>
                <a:latin typeface="Arial"/>
              </a:defRPr>
            </a:pPr>
            <a:r>
              <a:t>3. Kiến Trúc &amp; Công Nghệ Sử Dụng</a:t>
            </a:r>
          </a:p>
        </p:txBody>
      </p:sp>
      <p:pic>
        <p:nvPicPr>
          <p:cNvPr id="4" name="Picture 3" descr="logo.png"/>
          <p:cNvPicPr>
            <a:picLocks noChangeAspect="1"/>
          </p:cNvPicPr>
          <p:nvPr/>
        </p:nvPicPr>
        <p:blipFill>
          <a:blip r:embed="rId2"/>
          <a:stretch>
            <a:fillRect/>
          </a:stretch>
        </p:blipFill>
        <p:spPr>
          <a:xfrm>
            <a:off x="10972800" y="182880"/>
            <a:ext cx="731520" cy="731520"/>
          </a:xfrm>
          <a:prstGeom prst="rect">
            <a:avLst/>
          </a:prstGeom>
        </p:spPr>
      </p:pic>
      <p:sp>
        <p:nvSpPr>
          <p:cNvPr id="5" name="Rounded Rectangle 4"/>
          <p:cNvSpPr/>
          <p:nvPr/>
        </p:nvSpPr>
        <p:spPr>
          <a:xfrm>
            <a:off x="914400" y="1828800"/>
            <a:ext cx="32004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2834640" cy="3749040"/>
          </a:xfrm>
          <a:prstGeom prst="rect">
            <a:avLst/>
          </a:prstGeom>
          <a:noFill/>
        </p:spPr>
        <p:txBody>
          <a:bodyPr wrap="square">
            <a:spAutoFit/>
          </a:bodyPr>
          <a:lstStyle/>
          <a:p>
            <a:pPr>
              <a:spcAft>
                <a:spcPts val="1400"/>
              </a:spcAft>
              <a:defRPr sz="2000" b="1">
                <a:solidFill>
                  <a:srgbClr val="0F172A"/>
                </a:solidFill>
                <a:latin typeface="Arial"/>
              </a:defRPr>
            </a:pPr>
            <a:r>
              <a:t>Frontend Client</a:t>
            </a:r>
          </a:p>
          <a:p>
            <a:pPr>
              <a:spcAft>
                <a:spcPts val="800"/>
              </a:spcAft>
              <a:defRPr sz="1400">
                <a:solidFill>
                  <a:srgbClr val="1E293B"/>
                </a:solidFill>
                <a:latin typeface="Arial"/>
              </a:defRPr>
            </a:pPr>
            <a:r>
              <a:t>• React.js &amp; Vite: Tốc độ build nhanh, tối ưu hóa giao diện Single Page.</a:t>
            </a:r>
          </a:p>
          <a:p>
            <a:pPr>
              <a:spcAft>
                <a:spcPts val="800"/>
              </a:spcAft>
              <a:defRPr sz="1400">
                <a:solidFill>
                  <a:srgbClr val="1E293B"/>
                </a:solidFill>
                <a:latin typeface="Arial"/>
              </a:defRPr>
            </a:pPr>
            <a:r>
              <a:t>• Tailwind CSS: Xây dựng giao diện Responsive, hiện đại và tùy biến cao.</a:t>
            </a:r>
          </a:p>
          <a:p>
            <a:pPr>
              <a:spcAft>
                <a:spcPts val="800"/>
              </a:spcAft>
              <a:defRPr sz="1400">
                <a:solidFill>
                  <a:srgbClr val="1E293B"/>
                </a:solidFill>
                <a:latin typeface="Arial"/>
              </a:defRPr>
            </a:pPr>
            <a:r>
              <a:t>• Lucide React: Bộ biểu tượng thiết kế tối giản, trực quan.</a:t>
            </a:r>
          </a:p>
        </p:txBody>
      </p:sp>
      <p:sp>
        <p:nvSpPr>
          <p:cNvPr id="7" name="Rounded Rectangle 6"/>
          <p:cNvSpPr/>
          <p:nvPr/>
        </p:nvSpPr>
        <p:spPr>
          <a:xfrm>
            <a:off x="4495190" y="1828800"/>
            <a:ext cx="320040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78070" y="2011680"/>
            <a:ext cx="2834640" cy="3749040"/>
          </a:xfrm>
          <a:prstGeom prst="rect">
            <a:avLst/>
          </a:prstGeom>
          <a:noFill/>
        </p:spPr>
        <p:txBody>
          <a:bodyPr wrap="square">
            <a:spAutoFit/>
          </a:bodyPr>
          <a:lstStyle/>
          <a:p>
            <a:pPr>
              <a:spcAft>
                <a:spcPts val="1400"/>
              </a:spcAft>
              <a:defRPr sz="2000" b="1">
                <a:solidFill>
                  <a:srgbClr val="0F172A"/>
                </a:solidFill>
                <a:latin typeface="Arial"/>
              </a:defRPr>
            </a:pPr>
            <a:r>
              <a:t>Backend &amp; Database</a:t>
            </a:r>
          </a:p>
          <a:p>
            <a:pPr>
              <a:spcAft>
                <a:spcPts val="800"/>
              </a:spcAft>
              <a:defRPr sz="1400">
                <a:solidFill>
                  <a:srgbClr val="1E293B"/>
                </a:solidFill>
                <a:latin typeface="Arial"/>
              </a:defRPr>
            </a:pPr>
            <a:r>
              <a:t>• Node.js &amp; Express.js: Xử lý API tốc độ cao, khả năng chịu tải tốt.</a:t>
            </a:r>
          </a:p>
          <a:p>
            <a:pPr>
              <a:spcAft>
                <a:spcPts val="800"/>
              </a:spcAft>
              <a:defRPr sz="1400">
                <a:solidFill>
                  <a:srgbClr val="1E293B"/>
                </a:solidFill>
                <a:latin typeface="Arial"/>
              </a:defRPr>
            </a:pPr>
            <a:r>
              <a:t>• MySQL 8: Cơ sở dữ liệu quan hệ chặt chẽ, tối ưu truy vấn.</a:t>
            </a:r>
          </a:p>
          <a:p>
            <a:pPr>
              <a:spcAft>
                <a:spcPts val="800"/>
              </a:spcAft>
              <a:defRPr sz="1400">
                <a:solidFill>
                  <a:srgbClr val="1E293B"/>
                </a:solidFill>
                <a:latin typeface="Arial"/>
              </a:defRPr>
            </a:pPr>
            <a:r>
              <a:t>• JWT &amp; Bcrypt: Bảo mật tài khoản và xác thực API phân quyền.</a:t>
            </a:r>
          </a:p>
        </p:txBody>
      </p:sp>
      <p:sp>
        <p:nvSpPr>
          <p:cNvPr id="9" name="Rounded Rectangle 8"/>
          <p:cNvSpPr/>
          <p:nvPr/>
        </p:nvSpPr>
        <p:spPr>
          <a:xfrm>
            <a:off x="8076895" y="1828800"/>
            <a:ext cx="3200400" cy="4114800"/>
          </a:xfrm>
          <a:prstGeom prst="roundRect">
            <a:avLst/>
          </a:prstGeom>
          <a:solidFill>
            <a:srgbClr val="0F172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9775" y="2011680"/>
            <a:ext cx="2834640" cy="3749040"/>
          </a:xfrm>
          <a:prstGeom prst="rect">
            <a:avLst/>
          </a:prstGeom>
          <a:noFill/>
        </p:spPr>
        <p:txBody>
          <a:bodyPr wrap="square">
            <a:spAutoFit/>
          </a:bodyPr>
          <a:lstStyle/>
          <a:p>
            <a:pPr>
              <a:spcAft>
                <a:spcPts val="1400"/>
              </a:spcAft>
              <a:defRPr sz="2000" b="1">
                <a:solidFill>
                  <a:srgbClr val="0EA5E9"/>
                </a:solidFill>
                <a:latin typeface="Arial"/>
              </a:defRPr>
            </a:pPr>
            <a:r>
              <a:t>Realtime &amp; Deployment</a:t>
            </a:r>
          </a:p>
          <a:p>
            <a:pPr>
              <a:spcAft>
                <a:spcPts val="800"/>
              </a:spcAft>
              <a:defRPr sz="1400">
                <a:solidFill>
                  <a:srgbClr val="FFFFFF"/>
                </a:solidFill>
                <a:latin typeface="Arial"/>
              </a:defRPr>
            </a:pPr>
            <a:r>
              <a:t>• Socket.IO: Truyền tin nhắn thời gian thực và quản lý phòng chat.</a:t>
            </a:r>
          </a:p>
          <a:p>
            <a:pPr>
              <a:spcAft>
                <a:spcPts val="800"/>
              </a:spcAft>
              <a:defRPr sz="1400">
                <a:solidFill>
                  <a:srgbClr val="FFFFFF"/>
                </a:solidFill>
                <a:latin typeface="Arial"/>
              </a:defRPr>
            </a:pPr>
            <a:r>
              <a:t>• WebRTC: Kết nối cuộc gọi thoại, gọi video và livestream peer-to-peer.</a:t>
            </a:r>
          </a:p>
          <a:p>
            <a:pPr>
              <a:spcAft>
                <a:spcPts val="800"/>
              </a:spcAft>
              <a:defRPr sz="1400">
                <a:solidFill>
                  <a:srgbClr val="FFFFFF"/>
                </a:solidFill>
                <a:latin typeface="Arial"/>
              </a:defRPr>
            </a:pPr>
            <a:r>
              <a:t>• Docker &amp; Docker Compose: Đồng bộ môi trường chạy dev &amp; production.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731520"/>
          </a:xfrm>
          <a:prstGeom prst="rect">
            <a:avLst/>
          </a:prstGeom>
          <a:noFill/>
        </p:spPr>
        <p:txBody>
          <a:bodyPr wrap="square">
            <a:spAutoFit/>
          </a:bodyPr>
          <a:lstStyle/>
          <a:p>
            <a:pPr algn="l">
              <a:defRPr sz="2800" b="1">
                <a:solidFill>
                  <a:srgbClr val="FFFFFF"/>
                </a:solidFill>
                <a:latin typeface="Arial"/>
              </a:defRPr>
            </a:pPr>
            <a:r>
              <a:t>4. Các Phân Hệ Tính Năng Chính</a:t>
            </a:r>
          </a:p>
        </p:txBody>
      </p:sp>
      <p:pic>
        <p:nvPicPr>
          <p:cNvPr id="4" name="Picture 3" descr="logo.png"/>
          <p:cNvPicPr>
            <a:picLocks noChangeAspect="1"/>
          </p:cNvPicPr>
          <p:nvPr/>
        </p:nvPicPr>
        <p:blipFill>
          <a:blip r:embed="rId2"/>
          <a:stretch>
            <a:fillRect/>
          </a:stretch>
        </p:blipFill>
        <p:spPr>
          <a:xfrm>
            <a:off x="10972800" y="182880"/>
            <a:ext cx="731520" cy="731520"/>
          </a:xfrm>
          <a:prstGeom prst="rect">
            <a:avLst/>
          </a:prstGeom>
        </p:spPr>
      </p:pic>
      <p:sp>
        <p:nvSpPr>
          <p:cNvPr id="5" name="Rounded Rectangle 4"/>
          <p:cNvSpPr/>
          <p:nvPr/>
        </p:nvSpPr>
        <p:spPr>
          <a:xfrm>
            <a:off x="914400" y="1828800"/>
            <a:ext cx="475488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4389120" cy="1554480"/>
          </a:xfrm>
          <a:prstGeom prst="rect">
            <a:avLst/>
          </a:prstGeom>
          <a:noFill/>
        </p:spPr>
        <p:txBody>
          <a:bodyPr wrap="square">
            <a:spAutoFit/>
          </a:bodyPr>
          <a:lstStyle/>
          <a:p>
            <a:pPr>
              <a:spcAft>
                <a:spcPts val="1400"/>
              </a:spcAft>
              <a:defRPr sz="2000" b="1">
                <a:solidFill>
                  <a:srgbClr val="0F172A"/>
                </a:solidFill>
                <a:latin typeface="Arial"/>
              </a:defRPr>
            </a:pPr>
            <a:r>
              <a:t>Xác thực &amp; Mạng xã hội</a:t>
            </a:r>
          </a:p>
          <a:p>
            <a:pPr>
              <a:spcAft>
                <a:spcPts val="800"/>
              </a:spcAft>
              <a:defRPr sz="1400">
                <a:solidFill>
                  <a:srgbClr val="1E293B"/>
                </a:solidFill>
                <a:latin typeface="Arial"/>
              </a:defRPr>
            </a:pPr>
            <a:r>
              <a:t>• Đăng ký, gửi mã xác thực OTP thực qua Gmail.</a:t>
            </a:r>
          </a:p>
          <a:p>
            <a:pPr>
              <a:spcAft>
                <a:spcPts val="800"/>
              </a:spcAft>
              <a:defRPr sz="1400">
                <a:solidFill>
                  <a:srgbClr val="1E293B"/>
                </a:solidFill>
                <a:latin typeface="Arial"/>
              </a:defRPr>
            </a:pPr>
            <a:r>
              <a:t>• Đăng bài viết kèm ảnh/video, like, comment, lưu trữ.</a:t>
            </a:r>
          </a:p>
        </p:txBody>
      </p:sp>
      <p:sp>
        <p:nvSpPr>
          <p:cNvPr id="7" name="Rounded Rectangle 6"/>
          <p:cNvSpPr/>
          <p:nvPr/>
        </p:nvSpPr>
        <p:spPr>
          <a:xfrm>
            <a:off x="914400" y="4023360"/>
            <a:ext cx="475488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4389120" cy="1554480"/>
          </a:xfrm>
          <a:prstGeom prst="rect">
            <a:avLst/>
          </a:prstGeom>
          <a:noFill/>
        </p:spPr>
        <p:txBody>
          <a:bodyPr wrap="square">
            <a:spAutoFit/>
          </a:bodyPr>
          <a:lstStyle/>
          <a:p>
            <a:pPr>
              <a:spcAft>
                <a:spcPts val="1400"/>
              </a:spcAft>
              <a:defRPr sz="2000" b="1">
                <a:solidFill>
                  <a:srgbClr val="0F172A"/>
                </a:solidFill>
                <a:latin typeface="Arial"/>
              </a:defRPr>
            </a:pPr>
            <a:r>
              <a:t>Thương mại &amp; Check-in QR</a:t>
            </a:r>
          </a:p>
          <a:p>
            <a:pPr>
              <a:spcAft>
                <a:spcPts val="800"/>
              </a:spcAft>
              <a:defRPr sz="1400">
                <a:solidFill>
                  <a:srgbClr val="1E293B"/>
                </a:solidFill>
                <a:latin typeface="Arial"/>
              </a:defRPr>
            </a:pPr>
            <a:r>
              <a:t>• Đặt vé trực tuyến, xuất vé dạng QR Code bảo mật.</a:t>
            </a:r>
          </a:p>
          <a:p>
            <a:pPr>
              <a:spcAft>
                <a:spcPts val="800"/>
              </a:spcAft>
              <a:defRPr sz="1400">
                <a:solidFill>
                  <a:srgbClr val="1E293B"/>
                </a:solidFill>
                <a:latin typeface="Arial"/>
              </a:defRPr>
            </a:pPr>
            <a:r>
              <a:t>• Khu du lịch quét QR Code check-in nhanh.</a:t>
            </a:r>
          </a:p>
        </p:txBody>
      </p:sp>
      <p:sp>
        <p:nvSpPr>
          <p:cNvPr id="9" name="Rounded Rectangle 8"/>
          <p:cNvSpPr/>
          <p:nvPr/>
        </p:nvSpPr>
        <p:spPr>
          <a:xfrm>
            <a:off x="6522415" y="1828800"/>
            <a:ext cx="4754880" cy="4114800"/>
          </a:xfrm>
          <a:prstGeom prst="roundRect">
            <a:avLst/>
          </a:prstGeom>
          <a:solidFill>
            <a:srgbClr val="0F172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05295" y="2011680"/>
            <a:ext cx="4389120" cy="3749040"/>
          </a:xfrm>
          <a:prstGeom prst="rect">
            <a:avLst/>
          </a:prstGeom>
          <a:noFill/>
        </p:spPr>
        <p:txBody>
          <a:bodyPr wrap="square">
            <a:spAutoFit/>
          </a:bodyPr>
          <a:lstStyle/>
          <a:p>
            <a:pPr>
              <a:spcAft>
                <a:spcPts val="1400"/>
              </a:spcAft>
              <a:defRPr sz="2000" b="1">
                <a:solidFill>
                  <a:srgbClr val="0EA5E9"/>
                </a:solidFill>
                <a:latin typeface="Arial"/>
              </a:defRPr>
            </a:pPr>
            <a:r>
              <a:t>Realtime Communication &amp; Stream</a:t>
            </a:r>
          </a:p>
          <a:p>
            <a:pPr>
              <a:spcAft>
                <a:spcPts val="800"/>
              </a:spcAft>
              <a:defRPr sz="1400">
                <a:solidFill>
                  <a:srgbClr val="FFFFFF"/>
                </a:solidFill>
                <a:latin typeface="Arial"/>
              </a:defRPr>
            </a:pPr>
            <a:r>
              <a:t>• Nhắn tin tức thời (realtime chat) cá nhân và nhóm.</a:t>
            </a:r>
          </a:p>
          <a:p>
            <a:pPr>
              <a:spcAft>
                <a:spcPts val="800"/>
              </a:spcAft>
              <a:defRPr sz="1400">
                <a:solidFill>
                  <a:srgbClr val="FFFFFF"/>
                </a:solidFill>
                <a:latin typeface="Arial"/>
              </a:defRPr>
            </a:pPr>
            <a:r>
              <a:t>• Đàm thoại trực tiếp (Video Call) công nghệ WebRTC kết nối peer-to-peer mượt mà.</a:t>
            </a:r>
          </a:p>
          <a:p>
            <a:pPr>
              <a:spcAft>
                <a:spcPts val="800"/>
              </a:spcAft>
              <a:defRPr sz="1400">
                <a:solidFill>
                  <a:srgbClr val="FFFFFF"/>
                </a:solidFill>
                <a:latin typeface="Arial"/>
              </a:defRPr>
            </a:pPr>
            <a:r>
              <a:t>• Tích hợp phát Livestream trực tiếp trên nền tảng mạng xã hội kết nối người xem.</a:t>
            </a:r>
          </a:p>
          <a:p>
            <a:pPr>
              <a:spcAft>
                <a:spcPts val="800"/>
              </a:spcAft>
              <a:defRPr sz="1400">
                <a:solidFill>
                  <a:srgbClr val="FFFFFF"/>
                </a:solidFill>
                <a:latin typeface="Arial"/>
              </a:defRPr>
            </a:pPr>
            <a:r>
              <a:t>• Tự động bật/tắt thiết bị camera và micro trực quan.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731520"/>
          </a:xfrm>
          <a:prstGeom prst="rect">
            <a:avLst/>
          </a:prstGeom>
          <a:noFill/>
        </p:spPr>
        <p:txBody>
          <a:bodyPr wrap="square">
            <a:spAutoFit/>
          </a:bodyPr>
          <a:lstStyle/>
          <a:p>
            <a:pPr algn="l">
              <a:defRPr sz="2800" b="1">
                <a:solidFill>
                  <a:srgbClr val="FFFFFF"/>
                </a:solidFill>
                <a:latin typeface="Arial"/>
              </a:defRPr>
            </a:pPr>
            <a:r>
              <a:t>5. Điểm Sáng Kỹ Thuật &amp; Tối Ưu Hóa</a:t>
            </a:r>
          </a:p>
        </p:txBody>
      </p:sp>
      <p:pic>
        <p:nvPicPr>
          <p:cNvPr id="4" name="Picture 3" descr="logo.png"/>
          <p:cNvPicPr>
            <a:picLocks noChangeAspect="1"/>
          </p:cNvPicPr>
          <p:nvPr/>
        </p:nvPicPr>
        <p:blipFill>
          <a:blip r:embed="rId2"/>
          <a:stretch>
            <a:fillRect/>
          </a:stretch>
        </p:blipFill>
        <p:spPr>
          <a:xfrm>
            <a:off x="10972800" y="182880"/>
            <a:ext cx="731520" cy="731520"/>
          </a:xfrm>
          <a:prstGeom prst="rect">
            <a:avLst/>
          </a:prstGeom>
        </p:spPr>
      </p:pic>
      <p:sp>
        <p:nvSpPr>
          <p:cNvPr id="5" name="Rounded Rectangle 4"/>
          <p:cNvSpPr/>
          <p:nvPr/>
        </p:nvSpPr>
        <p:spPr>
          <a:xfrm>
            <a:off x="914400" y="1828800"/>
            <a:ext cx="4754880" cy="4114800"/>
          </a:xfrm>
          <a:prstGeom prst="roundRect">
            <a:avLst/>
          </a:prstGeom>
          <a:solidFill>
            <a:srgbClr val="0F172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4389120" cy="3749040"/>
          </a:xfrm>
          <a:prstGeom prst="rect">
            <a:avLst/>
          </a:prstGeom>
          <a:noFill/>
        </p:spPr>
        <p:txBody>
          <a:bodyPr wrap="square">
            <a:spAutoFit/>
          </a:bodyPr>
          <a:lstStyle/>
          <a:p>
            <a:pPr>
              <a:spcAft>
                <a:spcPts val="1400"/>
              </a:spcAft>
              <a:defRPr sz="2000" b="1">
                <a:solidFill>
                  <a:srgbClr val="0EA5E9"/>
                </a:solidFill>
                <a:latin typeface="Arial"/>
              </a:defRPr>
            </a:pPr>
            <a:r>
              <a:t>Hàng đợi ICE Candidate (WebRTC)</a:t>
            </a:r>
          </a:p>
          <a:p>
            <a:pPr>
              <a:spcAft>
                <a:spcPts val="800"/>
              </a:spcAft>
              <a:defRPr sz="1400">
                <a:solidFill>
                  <a:srgbClr val="FFFFFF"/>
                </a:solidFill>
                <a:latin typeface="Arial"/>
              </a:defRPr>
            </a:pPr>
            <a:r>
              <a:t>• Vấn đề: Ứng dụng WebRTC bị lỗi đen màn hình do các gói tin địa chỉ mạng (ICE Candidate) của người gọi đến trước khi người nhận bấm chấp nhận cuộc gọi.</a:t>
            </a:r>
          </a:p>
          <a:p>
            <a:pPr>
              <a:spcAft>
                <a:spcPts val="800"/>
              </a:spcAft>
              <a:defRPr sz="1400">
                <a:solidFill>
                  <a:srgbClr val="FFFFFF"/>
                </a:solidFill>
                <a:latin typeface="Arial"/>
              </a:defRPr>
            </a:pPr>
            <a:r>
              <a:t>• Giải pháp: Xây dựng cơ chế hàng đợi (Queue) lưu trữ tạm thời các ICE candidate.</a:t>
            </a:r>
          </a:p>
          <a:p>
            <a:pPr>
              <a:spcAft>
                <a:spcPts val="800"/>
              </a:spcAft>
              <a:defRPr sz="1400">
                <a:solidFill>
                  <a:srgbClr val="FFFFFF"/>
                </a:solidFill>
                <a:latin typeface="Arial"/>
              </a:defRPr>
            </a:pPr>
            <a:r>
              <a:t>• Kết quả: Ngay sau khi bấm OK kết nối, các gói tin được lấy ra và add đồng loạt, thiết lập camera và âm thanh mượt mà 100%.</a:t>
            </a:r>
          </a:p>
        </p:txBody>
      </p:sp>
      <p:sp>
        <p:nvSpPr>
          <p:cNvPr id="7" name="Rounded Rectangle 6"/>
          <p:cNvSpPr/>
          <p:nvPr/>
        </p:nvSpPr>
        <p:spPr>
          <a:xfrm>
            <a:off x="6522415" y="1828800"/>
            <a:ext cx="47548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5295" y="2011680"/>
            <a:ext cx="4389120" cy="3749040"/>
          </a:xfrm>
          <a:prstGeom prst="rect">
            <a:avLst/>
          </a:prstGeom>
          <a:noFill/>
        </p:spPr>
        <p:txBody>
          <a:bodyPr wrap="square">
            <a:spAutoFit/>
          </a:bodyPr>
          <a:lstStyle/>
          <a:p>
            <a:pPr>
              <a:spcAft>
                <a:spcPts val="1400"/>
              </a:spcAft>
              <a:defRPr sz="2000" b="1">
                <a:solidFill>
                  <a:srgbClr val="0F172A"/>
                </a:solidFill>
                <a:latin typeface="Arial"/>
              </a:defRPr>
            </a:pPr>
            <a:r>
              <a:t>Tính ổn định &amp; Triển khai</a:t>
            </a:r>
          </a:p>
          <a:p>
            <a:pPr>
              <a:spcAft>
                <a:spcPts val="800"/>
              </a:spcAft>
              <a:defRPr sz="1400">
                <a:solidFill>
                  <a:srgbClr val="1E293B"/>
                </a:solidFill>
                <a:latin typeface="Arial"/>
              </a:defRPr>
            </a:pPr>
            <a:r>
              <a:t>• Gửi mail OTP thực tế: Sử dụng Nodemailer kết nối App Password bảo mật an toàn.</a:t>
            </a:r>
          </a:p>
          <a:p>
            <a:pPr>
              <a:spcAft>
                <a:spcPts val="800"/>
              </a:spcAft>
              <a:defRPr sz="1400">
                <a:solidFill>
                  <a:srgbClr val="1E293B"/>
                </a:solidFill>
                <a:latin typeface="Arial"/>
              </a:defRPr>
            </a:pPr>
            <a:r>
              <a:t>• Docker hóa toàn bộ: Dễ dàng cấu hình và khởi chạy ứng dụng với một lệnh duy nhất.</a:t>
            </a:r>
          </a:p>
          <a:p>
            <a:pPr>
              <a:spcAft>
                <a:spcPts val="800"/>
              </a:spcAft>
              <a:defRPr sz="1400">
                <a:solidFill>
                  <a:srgbClr val="1E293B"/>
                </a:solidFill>
                <a:latin typeface="Arial"/>
              </a:defRPr>
            </a:pPr>
            <a:r>
              <a:t>• Cơ chế tự khởi tạo Admin mặc định khi database trống, tăng tính tiện lợi khi cài đặt hệ thống.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731520"/>
          </a:xfrm>
          <a:prstGeom prst="rect">
            <a:avLst/>
          </a:prstGeom>
          <a:noFill/>
        </p:spPr>
        <p:txBody>
          <a:bodyPr wrap="square">
            <a:spAutoFit/>
          </a:bodyPr>
          <a:lstStyle/>
          <a:p>
            <a:pPr algn="l">
              <a:defRPr sz="2800" b="1">
                <a:solidFill>
                  <a:srgbClr val="FFFFFF"/>
                </a:solidFill>
                <a:latin typeface="Arial"/>
              </a:defRPr>
            </a:pPr>
            <a:r>
              <a:t>6. Demo Giao Diện Thực Tế</a:t>
            </a:r>
          </a:p>
        </p:txBody>
      </p:sp>
      <p:pic>
        <p:nvPicPr>
          <p:cNvPr id="4" name="Picture 3" descr="logo.png"/>
          <p:cNvPicPr>
            <a:picLocks noChangeAspect="1"/>
          </p:cNvPicPr>
          <p:nvPr/>
        </p:nvPicPr>
        <p:blipFill>
          <a:blip r:embed="rId2"/>
          <a:stretch>
            <a:fillRect/>
          </a:stretch>
        </p:blipFill>
        <p:spPr>
          <a:xfrm>
            <a:off x="10972800" y="182880"/>
            <a:ext cx="731520" cy="731520"/>
          </a:xfrm>
          <a:prstGeom prst="rect">
            <a:avLst/>
          </a:prstGeom>
        </p:spPr>
      </p:pic>
      <p:sp>
        <p:nvSpPr>
          <p:cNvPr id="5" name="Rounded Rectangle 4"/>
          <p:cNvSpPr/>
          <p:nvPr/>
        </p:nvSpPr>
        <p:spPr>
          <a:xfrm>
            <a:off x="914400" y="1554480"/>
            <a:ext cx="475488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homepage.png"/>
          <p:cNvPicPr>
            <a:picLocks noChangeAspect="1"/>
          </p:cNvPicPr>
          <p:nvPr/>
        </p:nvPicPr>
        <p:blipFill>
          <a:blip r:embed="rId3"/>
          <a:stretch>
            <a:fillRect/>
          </a:stretch>
        </p:blipFill>
        <p:spPr>
          <a:xfrm>
            <a:off x="1051560" y="1691640"/>
            <a:ext cx="4480560" cy="3017520"/>
          </a:xfrm>
          <a:prstGeom prst="rect">
            <a:avLst/>
          </a:prstGeom>
        </p:spPr>
      </p:pic>
      <p:sp>
        <p:nvSpPr>
          <p:cNvPr id="7" name="TextBox 6"/>
          <p:cNvSpPr txBox="1"/>
          <p:nvPr/>
        </p:nvSpPr>
        <p:spPr>
          <a:xfrm>
            <a:off x="1051560" y="4754880"/>
            <a:ext cx="4480560" cy="1188720"/>
          </a:xfrm>
          <a:prstGeom prst="rect">
            <a:avLst/>
          </a:prstGeom>
          <a:noFill/>
        </p:spPr>
        <p:txBody>
          <a:bodyPr wrap="square">
            <a:spAutoFit/>
          </a:bodyPr>
          <a:lstStyle/>
          <a:p>
            <a:pPr>
              <a:spcAft>
                <a:spcPts val="400"/>
              </a:spcAft>
              <a:defRPr sz="1600" b="1">
                <a:solidFill>
                  <a:srgbClr val="0F172A"/>
                </a:solidFill>
                <a:latin typeface="Arial"/>
              </a:defRPr>
            </a:pPr>
            <a:r>
              <a:t>Trang Chủ Mạng Xã Hội &amp; Đặt Vé</a:t>
            </a:r>
          </a:p>
          <a:p>
            <a:pPr>
              <a:defRPr sz="1200">
                <a:solidFill>
                  <a:srgbClr val="475569"/>
                </a:solidFill>
                <a:latin typeface="Arial"/>
              </a:defRPr>
            </a:pPr>
            <a:r>
              <a:t>Giao diện chính hiển thị danh sách các bài đăng review du lịch và các địa điểm nổi bật giúp người dùng dễ dàng khám phá và đặt vé trực tuyến.</a:t>
            </a:r>
          </a:p>
        </p:txBody>
      </p:sp>
      <p:sp>
        <p:nvSpPr>
          <p:cNvPr id="8" name="Rounded Rectangle 7"/>
          <p:cNvSpPr/>
          <p:nvPr/>
        </p:nvSpPr>
        <p:spPr>
          <a:xfrm>
            <a:off x="6522415" y="1554480"/>
            <a:ext cx="475488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shot_dashboard.png"/>
          <p:cNvPicPr>
            <a:picLocks noChangeAspect="1"/>
          </p:cNvPicPr>
          <p:nvPr/>
        </p:nvPicPr>
        <p:blipFill>
          <a:blip r:embed="rId4"/>
          <a:stretch>
            <a:fillRect/>
          </a:stretch>
        </p:blipFill>
        <p:spPr>
          <a:xfrm>
            <a:off x="6659575" y="1691640"/>
            <a:ext cx="4480560" cy="3017520"/>
          </a:xfrm>
          <a:prstGeom prst="rect">
            <a:avLst/>
          </a:prstGeom>
        </p:spPr>
      </p:pic>
      <p:sp>
        <p:nvSpPr>
          <p:cNvPr id="10" name="TextBox 9"/>
          <p:cNvSpPr txBox="1"/>
          <p:nvPr/>
        </p:nvSpPr>
        <p:spPr>
          <a:xfrm>
            <a:off x="6659575" y="4754880"/>
            <a:ext cx="4480560" cy="1188720"/>
          </a:xfrm>
          <a:prstGeom prst="rect">
            <a:avLst/>
          </a:prstGeom>
          <a:noFill/>
        </p:spPr>
        <p:txBody>
          <a:bodyPr wrap="square">
            <a:spAutoFit/>
          </a:bodyPr>
          <a:lstStyle/>
          <a:p>
            <a:pPr>
              <a:spcAft>
                <a:spcPts val="400"/>
              </a:spcAft>
              <a:defRPr sz="1600" b="1">
                <a:solidFill>
                  <a:srgbClr val="0F172A"/>
                </a:solidFill>
                <a:latin typeface="Arial"/>
              </a:defRPr>
            </a:pPr>
            <a:r>
              <a:t>Trang Quản Trị Hệ Thống (Dashboard)</a:t>
            </a:r>
          </a:p>
          <a:p>
            <a:pPr>
              <a:defRPr sz="1200">
                <a:solidFill>
                  <a:srgbClr val="475569"/>
                </a:solidFill>
                <a:latin typeface="Arial"/>
              </a:defRPr>
            </a:pPr>
            <a:r>
              <a:t>Trang thống kê số liệu tổng quan, doanh thu, quản lý booking, thông tin các khu du lịch đối tác dành cho ban quản trị và đối tác doanh nghiệp.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731520"/>
          </a:xfrm>
          <a:prstGeom prst="rect">
            <a:avLst/>
          </a:prstGeom>
          <a:noFill/>
        </p:spPr>
        <p:txBody>
          <a:bodyPr wrap="square">
            <a:spAutoFit/>
          </a:bodyPr>
          <a:lstStyle/>
          <a:p>
            <a:pPr algn="l">
              <a:defRPr sz="2800" b="1">
                <a:solidFill>
                  <a:srgbClr val="FFFFFF"/>
                </a:solidFill>
                <a:latin typeface="Arial"/>
              </a:defRPr>
            </a:pPr>
            <a:r>
              <a:t>7. Kết Quả &amp; Hướng Phát Triển</a:t>
            </a:r>
          </a:p>
        </p:txBody>
      </p:sp>
      <p:pic>
        <p:nvPicPr>
          <p:cNvPr id="4" name="Picture 3" descr="logo.png"/>
          <p:cNvPicPr>
            <a:picLocks noChangeAspect="1"/>
          </p:cNvPicPr>
          <p:nvPr/>
        </p:nvPicPr>
        <p:blipFill>
          <a:blip r:embed="rId2"/>
          <a:stretch>
            <a:fillRect/>
          </a:stretch>
        </p:blipFill>
        <p:spPr>
          <a:xfrm>
            <a:off x="10972800" y="182880"/>
            <a:ext cx="731520" cy="731520"/>
          </a:xfrm>
          <a:prstGeom prst="rect">
            <a:avLst/>
          </a:prstGeom>
        </p:spPr>
      </p:pic>
      <p:sp>
        <p:nvSpPr>
          <p:cNvPr id="5" name="Rounded Rectangle 4"/>
          <p:cNvSpPr/>
          <p:nvPr/>
        </p:nvSpPr>
        <p:spPr>
          <a:xfrm>
            <a:off x="914400" y="1828800"/>
            <a:ext cx="47548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4389120" cy="3749040"/>
          </a:xfrm>
          <a:prstGeom prst="rect">
            <a:avLst/>
          </a:prstGeom>
          <a:noFill/>
        </p:spPr>
        <p:txBody>
          <a:bodyPr wrap="square">
            <a:spAutoFit/>
          </a:bodyPr>
          <a:lstStyle/>
          <a:p>
            <a:pPr>
              <a:spcAft>
                <a:spcPts val="1400"/>
              </a:spcAft>
              <a:defRPr sz="2000" b="1">
                <a:solidFill>
                  <a:srgbClr val="0F172A"/>
                </a:solidFill>
                <a:latin typeface="Arial"/>
              </a:defRPr>
            </a:pPr>
            <a:r>
              <a:t>Đánh giá kết quả</a:t>
            </a:r>
          </a:p>
          <a:p>
            <a:pPr>
              <a:spcAft>
                <a:spcPts val="800"/>
              </a:spcAft>
              <a:defRPr sz="1400">
                <a:solidFill>
                  <a:srgbClr val="1E293B"/>
                </a:solidFill>
                <a:latin typeface="Arial"/>
              </a:defRPr>
            </a:pPr>
            <a:r>
              <a:t>• Hoàn thiện 100% các tính năng nghiệp vụ cốt lõi theo kế hoạch đặt ra.</a:t>
            </a:r>
          </a:p>
          <a:p>
            <a:pPr>
              <a:spcAft>
                <a:spcPts val="800"/>
              </a:spcAft>
              <a:defRPr sz="1400">
                <a:solidFill>
                  <a:srgbClr val="1E293B"/>
                </a:solidFill>
                <a:latin typeface="Arial"/>
              </a:defRPr>
            </a:pPr>
            <a:r>
              <a:t>• Kết nối chat tức thời và gọi video, livestream hoạt động ổn định và mượt mà.</a:t>
            </a:r>
          </a:p>
          <a:p>
            <a:pPr>
              <a:spcAft>
                <a:spcPts val="800"/>
              </a:spcAft>
              <a:defRPr sz="1400">
                <a:solidFill>
                  <a:srgbClr val="1E293B"/>
                </a:solidFill>
                <a:latin typeface="Arial"/>
              </a:defRPr>
            </a:pPr>
            <a:r>
              <a:t>• Hệ thống database được tối ưu truy vấn tốt, đảm bảo tốc độ phản hồi nhanh.</a:t>
            </a:r>
          </a:p>
        </p:txBody>
      </p:sp>
      <p:sp>
        <p:nvSpPr>
          <p:cNvPr id="7" name="Rounded Rectangle 6"/>
          <p:cNvSpPr/>
          <p:nvPr/>
        </p:nvSpPr>
        <p:spPr>
          <a:xfrm>
            <a:off x="6522415" y="1828800"/>
            <a:ext cx="4754880" cy="4114800"/>
          </a:xfrm>
          <a:prstGeom prst="roundRect">
            <a:avLst/>
          </a:prstGeom>
          <a:solidFill>
            <a:srgbClr val="0F172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5295" y="2011680"/>
            <a:ext cx="4389120" cy="3749040"/>
          </a:xfrm>
          <a:prstGeom prst="rect">
            <a:avLst/>
          </a:prstGeom>
          <a:noFill/>
        </p:spPr>
        <p:txBody>
          <a:bodyPr wrap="square">
            <a:spAutoFit/>
          </a:bodyPr>
          <a:lstStyle/>
          <a:p>
            <a:pPr>
              <a:spcAft>
                <a:spcPts val="1400"/>
              </a:spcAft>
              <a:defRPr sz="2000" b="1">
                <a:solidFill>
                  <a:srgbClr val="0EA5E9"/>
                </a:solidFill>
                <a:latin typeface="Arial"/>
              </a:defRPr>
            </a:pPr>
            <a:r>
              <a:t>Hướng phát triển đề tài</a:t>
            </a:r>
          </a:p>
          <a:p>
            <a:pPr>
              <a:spcAft>
                <a:spcPts val="800"/>
              </a:spcAft>
              <a:defRPr sz="1400">
                <a:solidFill>
                  <a:srgbClr val="FFFFFF"/>
                </a:solidFill>
                <a:latin typeface="Arial"/>
              </a:defRPr>
            </a:pPr>
            <a:r>
              <a:t>• Tích hợp các cổng thanh toán điện tử chính thức (VNPay, MoMo, PayPal).</a:t>
            </a:r>
          </a:p>
          <a:p>
            <a:pPr>
              <a:spcAft>
                <a:spcPts val="800"/>
              </a:spcAft>
              <a:defRPr sz="1400">
                <a:solidFill>
                  <a:srgbClr val="FFFFFF"/>
                </a:solidFill>
                <a:latin typeface="Arial"/>
              </a:defRPr>
            </a:pPr>
            <a:r>
              <a:t>• Sử dụng công nghệ AI đề xuất địa điểm du lịch (Recommendation System) theo sở thích.</a:t>
            </a:r>
          </a:p>
          <a:p>
            <a:pPr>
              <a:spcAft>
                <a:spcPts val="800"/>
              </a:spcAft>
              <a:defRPr sz="1400">
                <a:solidFill>
                  <a:srgbClr val="FFFFFF"/>
                </a:solidFill>
                <a:latin typeface="Arial"/>
              </a:defRPr>
            </a:pPr>
            <a:r>
              <a:t>• Phát triển phiên bản ứng dụng di động Hybrid (React Native/Flutter) để tối ưu trải nghiệm scan QR.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286000"/>
            <a:ext cx="10362895" cy="1371600"/>
          </a:xfrm>
          <a:prstGeom prst="rect">
            <a:avLst/>
          </a:prstGeom>
          <a:noFill/>
        </p:spPr>
        <p:txBody>
          <a:bodyPr wrap="none">
            <a:spAutoFit/>
          </a:bodyPr>
          <a:lstStyle/>
          <a:p>
            <a:pPr algn="ctr">
              <a:defRPr sz="3200" b="1">
                <a:solidFill>
                  <a:srgbClr val="FFFFFF"/>
                </a:solidFill>
                <a:latin typeface="Arial"/>
              </a:defRPr>
            </a:pPr>
            <a:r>
              <a:t>CẢM ƠN HỘI ĐỒNG THẦY CÔ VÀ CÁC BẠN ĐÃ LẮNG NGHE!</a:t>
            </a:r>
          </a:p>
        </p:txBody>
      </p:sp>
      <p:sp>
        <p:nvSpPr>
          <p:cNvPr id="3" name="TextBox 2"/>
          <p:cNvSpPr txBox="1"/>
          <p:nvPr/>
        </p:nvSpPr>
        <p:spPr>
          <a:xfrm>
            <a:off x="914400" y="3657600"/>
            <a:ext cx="10362895" cy="914400"/>
          </a:xfrm>
          <a:prstGeom prst="rect">
            <a:avLst/>
          </a:prstGeom>
          <a:noFill/>
        </p:spPr>
        <p:txBody>
          <a:bodyPr wrap="none">
            <a:spAutoFit/>
          </a:bodyPr>
          <a:lstStyle/>
          <a:p>
            <a:pPr algn="ctr">
              <a:defRPr sz="2000">
                <a:solidFill>
                  <a:srgbClr val="0EA5E9"/>
                </a:solidFill>
                <a:latin typeface="Arial"/>
              </a:defRPr>
            </a:pPr>
            <a:r>
              <a:t>Em xin kính mong nhận được các ý kiến đóng góp và câu hỏi từ Hội đồng chuyên môn.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